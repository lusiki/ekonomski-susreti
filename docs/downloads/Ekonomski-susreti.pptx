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Otvoriti paradoksom, ne metodom. Važno je odmah razjasniti da rad ne mjeri samo količinu HNB-ove vlastite komunikacije. Mjeri koliko je HNB vidljiv unutar cijelog, brzo rastućeg medijskog diskursa o inflaciji. Institucija može objavljivati više, a ipak biti relativno istisnuta.</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Kredibilitet i jasnoća poruke nisu dovoljni ako poruka nema dovoljno kontakata s publikom. Mediji nisu neutralna cijev nego endogeni filtar. Time pitanje medijske vidljivosti postaje dio monetarne transmisije, a ne samo pitanje odnosa s javnošću.</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Naglasiti da treći doprinos nije puna kauzalna identifikacija kanala očekivanja. Inflacija prema IAG-u ima IV potporu, dok je veza IAG-a i očekivanja prediktivna. Ta razlika je važna i bit će jasno označena na sljedećim slajdovima.</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Korpus nije sastavljen pretragom nekoliko unaprijed odabranih velikih portala. Polazi od populacije dostupnih digitalnih objava i koristi hrvatske fleksijske oblike za HNB, središnju banku i povezane izraze. Primarni HNB korpus ima 58.448 objava, a inflacijski korpus 263.601 objavu. Primarna inferencija koristi tjedni panel s 157 opažanja; mjesečni panel s 36 opažanja referentna je specifikacija.</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Mjeru objasniti bez zadržavanja na cijeloj formuli ponderiranja. Pozitivni jaz znači deficit institucionalne pažnje u odnosu na bazno razdoblje prvih šest mjeseci 2021. Dekompozicija je važna zato što ista ukupna vidljivost može nastati s mnogo malih objava ili s nekoliko velikih.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Ovaj slajd štiti prezentaciju od prejakih tvrdnji. IV strategija koristi ponudom pokretane eurozonske komponente inflacije kao instrumente za hrvatsku inflaciju. Za očekivanja nemamo egzogenu varijaciju medijske izloženosti, pa govorimo o predviđanju i vremenskom redoslijedu, ne o dokazanom kauzalnom učinku.</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Prvo pokazati neparametarski obrazac: najviši kvintil inflacije ima najširi prosječni jaz, premda obrazac kroz srednje kvintile nije monoton. Zatim dati ekonomsku veličinu iz primarne tjedne specifikacije uz kontrolu medijskog volumena. Jedan postotni bod inflacije povezan je s približno 0,0021 jedinice većeg jaza. Skok s 2 na 10 posto odgovara približno trinaest posto cijelog opaženog raspona.</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Riječ je o relativnom udjelu članaka, ne nužno o apsolutnom broju. Kako inflacijski diskurs eksplodira, udio članaka koji uključuju HNB pada. Za doseg pojedinog članka nemamo statistički jasan učinak. Zato je središnja preporuka povećati učestalost neovisnih medijskih kontakata s HNB-ovim analitičkim signalom.</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Viša vrijednost anketne bilance znači da više kućanstava očekuje rast cijena. Negativni koeficijent zato znači da veći udio HNB-a u izvještavanju prethodi manje pesimističnim očekivanjima. Dosegom ponderirani agregatni IAG ne daje isti tjedni rezultat; kanal se pojavljuje upravo na ekstenzivnoj margini, odnosno kroz broj kontakata.</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Ovo je važan institucionalni rezultat. HNB nije šutio. Njegova vlastita komunikacijska aktivnost bila je veća kada je inflacija bila viša. Problem nastaje zato što pojačana ponuda institucionalnih informacija nije proporcionalno prenesena u neovisnom medijskom prostoru.</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 tvrditi da je sam euro kauzalno proizveo sve promjene. Strukturni test pokazuje promjenu režima oko datuma uvođenja. Nakon eura medijski fokus monetarne politike prirodno se pomiče prema ECB-u, dok domaći sentiment i političko-ekonomski narativi dobivaju veću važnost.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Ovaj slajd ne prolaziti test po test. Grupirati dokaze u tri pitanja: je li rezultat osjetljiv na specifikaciju, postoji li obratna kauzalnost i postoji li alternativno institucionalno objašnjenje. Transparentno navesti ograničenu snagu HANFA testa.</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Preporuka nije kupovanje medijskog prostora niti pokušaj uređivačke kontrole. Riječ je o smanjenju troška za neovisne novinare da uključe autoritativni institucionalni signal: dostupni stručnjaci, jasni grafikoni, kratka objašnjenja i pravodobnost.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Ograničenja iznijeti prije pitanja publike. Posebno izbjeći tvrdnju da je dokazano kako medijska vidljivost uzrokuje promjenu očekivanja. Prirodni nastavak je međunarodni panel Hrvatske, Slovenije, Slovačke i baltičkih država te eksperimentalni dizajn.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Završiti istom razlikom kojom je prezentacija otvorena: ponuda institucionalne komunikacije nije isto što i njezin prijenos. Glavni policy takeaway je mjeriti i upravljati frekvencijom neovisnog medijskog kontakta s institucionalnim signalom.</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Rezervni odgovor na pitanje o naslovu: kreativni naslov ostaje naslov rada, ali je konferencijski naslov namjerno izravan — problem, mehanizam i hrvatski kontekst vidljivi su u jednoj rečenici.</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xml" /><Relationship Id="rId3"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 Id="rId3"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 Id="rId3"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Kada inflacija istisne glas središnje banke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Medijska pažnja i inflacijska očekivanja u Hrvatskoj</a:t>
            </a:r>
            <a:br/>
            <a:br/>
            <a:r>
              <a:rPr/>
              <a:t>Petra Palić</a:t>
            </a:r>
            <a:br/>
            <a:r>
              <a:rPr/>
              <a:t>Luka Sikić</a:t>
            </a:r>
          </a:p>
        </p:txBody>
      </p:sp>
      <p:sp>
        <p:nvSpPr>
          <p:cNvPr id="4" name="Date Placeholder 3"/>
          <p:cNvSpPr>
            <a:spLocks noGrp="1"/>
          </p:cNvSpPr>
          <p:nvPr>
            <p:ph idx="10" sz="half" type="dt"/>
          </p:nvPr>
        </p:nvSpPr>
        <p:spPr/>
        <p:txBody>
          <a:bodyPr/>
          <a:lstStyle/>
          <a:p>
            <a:pPr lvl="0" indent="0" marL="0">
              <a:buNone/>
            </a:pPr>
            <a:r>
              <a:rPr/>
              <a:t>Invalid Date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Paradoks koji motivira rad</a:t>
            </a:r>
          </a:p>
        </p:txBody>
      </p:sp>
      <p:sp>
        <p:nvSpPr>
          <p:cNvPr id="3" name="Content Placeholder 2"/>
          <p:cNvSpPr>
            <a:spLocks noGrp="1"/>
          </p:cNvSpPr>
          <p:nvPr>
            <p:ph idx="1" sz="half"/>
          </p:nvPr>
        </p:nvSpPr>
        <p:spPr/>
        <p:txBody>
          <a:bodyPr/>
          <a:lstStyle/>
          <a:p>
            <a:pPr lvl="0" indent="0" marL="1270000">
              <a:buNone/>
            </a:pPr>
            <a:r>
              <a:rPr sz="2000"/>
              <a:t>Kada je javnosti najpotrebnije objašnjenje inflacije, glas institucije odgovorne za stabilnost cijena postaje relativno manje vidljiv.</a:t>
            </a:r>
          </a:p>
          <a:p>
            <a:pPr lvl="0" indent="0" marL="0">
              <a:buNone/>
            </a:pPr>
            <a:r>
              <a:rPr b="1"/>
              <a:t>Ne pitamo komunicira li HNB dovoljno.</a:t>
            </a:r>
          </a:p>
          <a:p>
            <a:pPr lvl="0" indent="0" marL="0">
              <a:buNone/>
            </a:pPr>
            <a:r>
              <a:rPr/>
              <a:t>Pitamo koliko njegova poruka preživi konkurenciju za medijsku pažnju.</a:t>
            </a:r>
          </a:p>
        </p:txBody>
      </p:sp>
      <p:sp>
        <p:nvSpPr>
          <p:cNvPr id="4" name="Content Placeholder 3"/>
          <p:cNvSpPr>
            <a:spLocks noGrp="1"/>
          </p:cNvSpPr>
          <p:nvPr>
            <p:ph idx="2" sz="half"/>
          </p:nvPr>
        </p:nvSpPr>
        <p:spPr/>
        <p:txBody>
          <a:bodyPr/>
          <a:lstStyle/>
          <a:p>
            <a:pPr lvl="0" indent="0" marL="0">
              <a:spcBef>
                <a:spcPts val="3000"/>
              </a:spcBef>
              <a:buNone/>
            </a:pPr>
            <a:r>
              <a:rPr b="1"/>
              <a:t>Hrvatska, 2021.–2023.</a:t>
            </a:r>
          </a:p>
          <a:p>
            <a:pPr lvl="0" indent="0" marL="0">
              <a:buNone/>
            </a:pPr>
            <a:r>
              <a:rPr b="1"/>
              <a:t>13,0%</a:t>
            </a:r>
            <a:br/>
            <a:r>
              <a:rPr/>
              <a:t>vrhunac HICP inflacije</a:t>
            </a:r>
          </a:p>
          <a:p>
            <a:pPr lvl="0" indent="0" marL="0">
              <a:buNone/>
            </a:pPr>
            <a:r>
              <a:rPr b="1"/>
              <a:t>58.448</a:t>
            </a:r>
            <a:br/>
            <a:r>
              <a:rPr/>
              <a:t>objava u primarnom HNB korpusu</a:t>
            </a:r>
          </a:p>
          <a:p>
            <a:pPr lvl="0" indent="0" marL="0">
              <a:buNone/>
            </a:pPr>
            <a:r>
              <a:rPr b="1"/>
              <a:t>↓</a:t>
            </a:r>
            <a:br/>
            <a:r>
              <a:rPr/>
              <a:t>relativna vidljivost u diskursu o cijenama</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Zašto je to ekonomski problem?</a:t>
            </a:r>
          </a:p>
        </p:txBody>
      </p:sp>
      <p:sp>
        <p:nvSpPr>
          <p:cNvPr id="3" name="Content Placeholder 2"/>
          <p:cNvSpPr>
            <a:spLocks noGrp="1"/>
          </p:cNvSpPr>
          <p:nvPr>
            <p:ph idx="1"/>
          </p:nvPr>
        </p:nvSpPr>
        <p:spPr/>
        <p:txBody>
          <a:bodyPr/>
          <a:lstStyle/>
          <a:p>
            <a:pPr lvl="0" indent="0" marL="0">
              <a:buNone/>
            </a:pPr>
            <a:r>
              <a:rPr/>
              <a:t>Signal središnje banke→Medijski filtar→Pažnja kućanstava→Inflacijska očekivanja→Ekonomske odluke</a:t>
            </a:r>
          </a:p>
          <a:p>
            <a:pPr lvl="0" indent="0" marL="0">
              <a:buNone/>
            </a:pPr>
          </a:p>
          <a:p>
            <a:pPr lvl="0" indent="0" marL="0">
              <a:buNone/>
            </a:pPr>
            <a:r>
              <a:rPr/>
              <a:t>Standardni transmisijski kanal pretpostavlja da signal stigne do primatelja.</a:t>
            </a:r>
          </a:p>
          <a:p>
            <a:pPr lvl="0" indent="0" marL="0">
              <a:buNone/>
            </a:pPr>
            <a:r>
              <a:rPr b="1"/>
              <a:t>Naša teza:</a:t>
            </a:r>
            <a:r>
              <a:rPr/>
              <a:t> dostupnost signala zaseban je uvjet njegove učinkovitosti.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Pitanje i doprinos</a:t>
            </a:r>
          </a:p>
        </p:txBody>
      </p:sp>
      <p:sp>
        <p:nvSpPr>
          <p:cNvPr id="3" name="Content Placeholder 2"/>
          <p:cNvSpPr>
            <a:spLocks noGrp="1"/>
          </p:cNvSpPr>
          <p:nvPr>
            <p:ph idx="1"/>
          </p:nvPr>
        </p:nvSpPr>
        <p:spPr/>
        <p:txBody>
          <a:bodyPr/>
          <a:lstStyle/>
          <a:p>
            <a:pPr lvl="0" indent="0" marL="0">
              <a:spcBef>
                <a:spcPts val="3000"/>
              </a:spcBef>
              <a:buNone/>
            </a:pPr>
            <a:r>
              <a:rPr b="1"/>
              <a:t>Gubi li HNB medijsku vidljivost upravo kada inflacija raste — i je li taj gubitak povezan s očekivanjima kućanstava?</a:t>
            </a:r>
          </a:p>
          <a:p>
            <a:pPr lvl="0" indent="0" marL="0">
              <a:buNone/>
            </a:pPr>
            <a:r>
              <a:rPr/>
              <a:t>Tri doprinosa:</a:t>
            </a:r>
          </a:p>
          <a:p>
            <a:pPr lvl="0" indent="-342900" marL="342900">
              <a:buAutoNum type="arabicPeriod"/>
            </a:pPr>
            <a:r>
              <a:rPr/>
              <a:t>uvodimo </a:t>
            </a:r>
            <a:r>
              <a:rPr b="1"/>
              <a:t>institucionalni jaz u pažnji (IAG)</a:t>
            </a:r>
            <a:r>
              <a:rPr/>
              <a:t>;</a:t>
            </a:r>
          </a:p>
          <a:p>
            <a:pPr lvl="0" indent="-342900" marL="342900">
              <a:buAutoNum type="arabicPeriod"/>
            </a:pPr>
            <a:r>
              <a:rPr/>
              <a:t>razdvajamo </a:t>
            </a:r>
            <a:r>
              <a:rPr b="1"/>
              <a:t>broj objava</a:t>
            </a:r>
            <a:r>
              <a:rPr/>
              <a:t> od </a:t>
            </a:r>
            <a:r>
              <a:rPr b="1"/>
              <a:t>dosega pojedine objave</a:t>
            </a:r>
            <a:r>
              <a:rPr/>
              <a:t>;</a:t>
            </a:r>
          </a:p>
          <a:p>
            <a:pPr lvl="0" indent="-342900" marL="342900">
              <a:buAutoNum type="arabicPeriod"/>
            </a:pPr>
            <a:r>
              <a:rPr/>
              <a:t>povezujemo medijsko istiskivanje s </a:t>
            </a:r>
            <a:r>
              <a:rPr b="1"/>
              <a:t>budućim inflacijskim očekivanjima</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Podatci: cijeli digitalni ekosustav, ne uzorak portala</a:t>
            </a:r>
          </a:p>
        </p:txBody>
      </p:sp>
      <p:sp>
        <p:nvSpPr>
          <p:cNvPr id="3" name="Content Placeholder 2"/>
          <p:cNvSpPr>
            <a:spLocks noGrp="1"/>
          </p:cNvSpPr>
          <p:nvPr>
            <p:ph idx="1" sz="half"/>
          </p:nvPr>
        </p:nvSpPr>
        <p:spPr/>
        <p:txBody>
          <a:bodyPr/>
          <a:lstStyle/>
          <a:p>
            <a:pPr lvl="0" indent="0" marL="0">
              <a:spcBef>
                <a:spcPts val="3000"/>
              </a:spcBef>
              <a:buNone/>
            </a:pPr>
            <a:r>
              <a:rPr b="1"/>
              <a:t>Mediji</a:t>
            </a:r>
          </a:p>
          <a:p>
            <a:pPr lvl="0"/>
            <a:r>
              <a:rPr/>
              <a:t>više od </a:t>
            </a:r>
            <a:r>
              <a:rPr b="1"/>
              <a:t>19 milijuna</a:t>
            </a:r>
            <a:r>
              <a:rPr/>
              <a:t> digitalnih objava</a:t>
            </a:r>
          </a:p>
          <a:p>
            <a:pPr lvl="0"/>
            <a:r>
              <a:rPr b="1"/>
              <a:t>1.239</a:t>
            </a:r>
            <a:r>
              <a:rPr/>
              <a:t> jedinstvenih izvora</a:t>
            </a:r>
          </a:p>
          <a:p>
            <a:pPr lvl="0"/>
            <a:r>
              <a:rPr/>
              <a:t>2021.–2023., mjesečna i tjedna agregacija</a:t>
            </a:r>
          </a:p>
          <a:p>
            <a:pPr lvl="0"/>
            <a:r>
              <a:rPr/>
              <a:t>doseg, istaknutost, sentiment i mrežna pozicija</a:t>
            </a:r>
          </a:p>
        </p:txBody>
      </p:sp>
      <p:sp>
        <p:nvSpPr>
          <p:cNvPr id="4" name="Content Placeholder 3"/>
          <p:cNvSpPr>
            <a:spLocks noGrp="1"/>
          </p:cNvSpPr>
          <p:nvPr>
            <p:ph idx="2" sz="half"/>
          </p:nvPr>
        </p:nvSpPr>
        <p:spPr/>
        <p:txBody>
          <a:bodyPr/>
          <a:lstStyle/>
          <a:p>
            <a:pPr lvl="0" indent="0" marL="0">
              <a:spcBef>
                <a:spcPts val="3000"/>
              </a:spcBef>
              <a:buNone/>
            </a:pPr>
            <a:r>
              <a:rPr b="1"/>
              <a:t>Ekonomija</a:t>
            </a:r>
          </a:p>
          <a:p>
            <a:pPr lvl="0"/>
            <a:r>
              <a:rPr/>
              <a:t>hrvatski HICP i njegova promjena</a:t>
            </a:r>
          </a:p>
          <a:p>
            <a:pPr lvl="0"/>
            <a:r>
              <a:rPr/>
              <a:t>eurozonski prehrambeni i energetski HICP</a:t>
            </a:r>
          </a:p>
          <a:p>
            <a:pPr lvl="0"/>
            <a:r>
              <a:rPr/>
              <a:t>očekivanja potrošača iz EC BCS ankete</a:t>
            </a:r>
          </a:p>
          <a:p>
            <a:pPr lvl="0"/>
            <a:r>
              <a:rPr/>
              <a:t>uvođenje eura 1. siječnja 2023.</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Nova mjera: institucionalni jaz u pažnji</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I</m:t>
                      </m:r>
                      <m:r>
                        <m:t>A</m:t>
                      </m:r>
                      <m:sSub>
                        <m:e>
                          <m:r>
                            <m:t>G</m:t>
                          </m:r>
                        </m:e>
                        <m:sub>
                          <m:r>
                            <m:t>t</m:t>
                          </m:r>
                        </m:sub>
                      </m:sSub>
                      <m:r>
                        <m:rPr>
                          <m:sty m:val="p"/>
                        </m:rPr>
                        <m:t>=</m:t>
                      </m:r>
                      <m:sSub>
                        <m:e>
                          <m:acc>
                            <m:accPr>
                              <m:chr m:val="‾"/>
                            </m:accPr>
                            <m:e>
                              <m:r>
                                <m:t>s</m:t>
                              </m:r>
                            </m:e>
                          </m:acc>
                        </m:e>
                        <m:sub>
                          <m:r>
                            <m:t>2021</m:t>
                          </m:r>
                          <m:r>
                            <m:rPr>
                              <m:sty m:val="p"/>
                            </m:rPr>
                            <m:t>:</m:t>
                          </m:r>
                          <m:r>
                            <m:t>I</m:t>
                          </m:r>
                          <m:r>
                            <m:rPr>
                              <m:sty m:val="p"/>
                            </m:rPr>
                            <m:t>−</m:t>
                          </m:r>
                          <m:r>
                            <m:t>V</m:t>
                          </m:r>
                          <m:r>
                            <m:t>I</m:t>
                          </m:r>
                        </m:sub>
                      </m:sSub>
                      <m:r>
                        <m:rPr>
                          <m:sty m:val="p"/>
                        </m:rPr>
                        <m:t>−</m:t>
                      </m:r>
                      <m:sSubSup>
                        <m:e>
                          <m:r>
                            <m:t>s</m:t>
                          </m:r>
                        </m:e>
                        <m:sub>
                          <m:r>
                            <m:t>t</m:t>
                          </m:r>
                        </m:sub>
                        <m:sup>
                          <m:r>
                            <m:t>H</m:t>
                          </m:r>
                          <m:r>
                            <m:t>N</m:t>
                          </m:r>
                          <m:r>
                            <m:t>B</m:t>
                          </m:r>
                        </m:sup>
                      </m:sSubSup>
                    </m:oMath>
                  </m:oMathPara>
                </a14:m>
              </a:p>
              <a:p>
                <a:pPr lvl="0" indent="0" marL="0">
                  <a:buNone/>
                </a:pPr>
                <a:r>
                  <a:rPr/>
                  <a:t>gdje je </a:t>
                </a:r>
                <a14:m>
                  <m:oMath xmlns:m="http://schemas.openxmlformats.org/officeDocument/2006/math">
                    <m:sSubSup>
                      <m:e>
                        <m:r>
                          <m:t>s</m:t>
                        </m:r>
                      </m:e>
                      <m:sub>
                        <m:r>
                          <m:t>t</m:t>
                        </m:r>
                      </m:sub>
                      <m:sup>
                        <m:r>
                          <m:t>H</m:t>
                        </m:r>
                        <m:r>
                          <m:t>N</m:t>
                        </m:r>
                        <m:r>
                          <m:t>B</m:t>
                        </m:r>
                      </m:sup>
                    </m:sSubSup>
                  </m:oMath>
                </a14:m>
                <a:r>
                  <a:rPr/>
                  <a:t> dosegom i istaknutošću ponderiran udio HNB-a u diskursu o inflaciji.</a:t>
                </a:r>
              </a:p>
              <a:p>
                <a:pPr lvl="0"/>
                <a:r>
                  <a:rPr b="1"/>
                  <a:t>IAG &gt; 0:</a:t>
                </a:r>
                <a:r>
                  <a:rPr/>
                  <a:t> HNB je manje vidljiv od početne, niskoinflacijske razine.</a:t>
                </a:r>
              </a:p>
              <a:p>
                <a:pPr lvl="0"/>
                <a:r>
                  <a:rPr b="1"/>
                  <a:t>Ekstenzivna margina:</a:t>
                </a:r>
                <a:r>
                  <a:rPr/>
                  <a:t> koliki je udio članaka o HNB-u.</a:t>
                </a:r>
              </a:p>
              <a:p>
                <a:pPr lvl="0"/>
                <a:r>
                  <a:rPr b="1"/>
                  <a:t>Intenzivna margina:</a:t>
                </a:r>
                <a:r>
                  <a:rPr/>
                  <a:t> koliki je doseg pojedine objave.</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Empirijska strategija i granice tvrdnji</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Tvrdnja</a:t>
                      </a:r>
                    </a:p>
                  </a:txBody>
                  <a:tcPr/>
                </a:tc>
                <a:tc>
                  <a:txBody>
                    <a:bodyPr/>
                    <a:lstStyle/>
                    <a:p>
                      <a:pPr lvl="0" indent="0" marL="0">
                        <a:buNone/>
                      </a:pPr>
                      <a:r>
                        <a:rPr/>
                        <a:t>Glavni dokaz</a:t>
                      </a:r>
                    </a:p>
                  </a:txBody>
                  <a:tcPr/>
                </a:tc>
                <a:tc>
                  <a:txBody>
                    <a:bodyPr/>
                    <a:lstStyle/>
                    <a:p>
                      <a:pPr lvl="0" indent="0" marL="0">
                        <a:buNone/>
                      </a:pPr>
                      <a:r>
                        <a:rPr/>
                        <a:t>Status</a:t>
                      </a:r>
                    </a:p>
                  </a:txBody>
                  <a:tcPr/>
                </a:tc>
              </a:tr>
              <a:tr h="0">
                <a:tc>
                  <a:txBody>
                    <a:bodyPr/>
                    <a:lstStyle/>
                    <a:p>
                      <a:pPr lvl="0" indent="0" marL="0">
                        <a:buNone/>
                      </a:pPr>
                      <a:r>
                        <a:rPr/>
                        <a:t>Inflacija širi IAG</a:t>
                      </a:r>
                    </a:p>
                  </a:txBody>
                </a:tc>
                <a:tc>
                  <a:txBody>
                    <a:bodyPr/>
                    <a:lstStyle/>
                    <a:p>
                      <a:pPr lvl="0" indent="0" marL="0">
                        <a:buNone/>
                      </a:pPr>
                      <a:r>
                        <a:rPr/>
                        <a:t>OLS + Newey–West; IV s EA hranom i energijom</a:t>
                      </a:r>
                    </a:p>
                  </a:txBody>
                </a:tc>
                <a:tc>
                  <a:txBody>
                    <a:bodyPr/>
                    <a:lstStyle/>
                    <a:p>
                      <a:pPr lvl="0" indent="0" marL="0">
                        <a:buNone/>
                      </a:pPr>
                      <a:r>
                        <a:rPr b="1"/>
                        <a:t>IV-podržana kauzalna interpretacija</a:t>
                      </a:r>
                    </a:p>
                  </a:txBody>
                </a:tc>
              </a:tr>
              <a:tr h="0">
                <a:tc>
                  <a:txBody>
                    <a:bodyPr/>
                    <a:lstStyle/>
                    <a:p>
                      <a:pPr lvl="0" indent="0" marL="0">
                        <a:buNone/>
                      </a:pPr>
                      <a:r>
                        <a:rPr/>
                        <a:t>Istiskivanje djeluje kroz broj objava</a:t>
                      </a:r>
                    </a:p>
                  </a:txBody>
                </a:tc>
                <a:tc>
                  <a:txBody>
                    <a:bodyPr/>
                    <a:lstStyle/>
                    <a:p>
                      <a:pPr lvl="0" indent="0" marL="0">
                        <a:buNone/>
                      </a:pPr>
                      <a:r>
                        <a:rPr/>
                        <a:t>Dekompozicija margina</a:t>
                      </a:r>
                    </a:p>
                  </a:txBody>
                </a:tc>
                <a:tc>
                  <a:txBody>
                    <a:bodyPr/>
                    <a:lstStyle/>
                    <a:p>
                      <a:pPr lvl="0" indent="0" marL="0">
                        <a:buNone/>
                      </a:pPr>
                      <a:r>
                        <a:rPr b="1"/>
                        <a:t>mehanizam / asocijacija</a:t>
                      </a:r>
                    </a:p>
                  </a:txBody>
                </a:tc>
              </a:tr>
              <a:tr h="0">
                <a:tc>
                  <a:txBody>
                    <a:bodyPr/>
                    <a:lstStyle/>
                    <a:p>
                      <a:pPr lvl="0" indent="0" marL="0">
                        <a:buNone/>
                      </a:pPr>
                      <a:r>
                        <a:rPr/>
                        <a:t>Jaz prethodi promjeni očekivanja</a:t>
                      </a:r>
                    </a:p>
                  </a:txBody>
                </a:tc>
                <a:tc>
                  <a:txBody>
                    <a:bodyPr/>
                    <a:lstStyle/>
                    <a:p>
                      <a:pPr lvl="0" indent="0" marL="0">
                        <a:buNone/>
                      </a:pPr>
                      <a:r>
                        <a:rPr/>
                        <a:t>Lokalne projekcije</a:t>
                      </a:r>
                    </a:p>
                  </a:txBody>
                </a:tc>
                <a:tc>
                  <a:txBody>
                    <a:bodyPr/>
                    <a:lstStyle/>
                    <a:p>
                      <a:pPr lvl="0" indent="0" marL="0">
                        <a:buNone/>
                      </a:pPr>
                      <a:r>
                        <a:rPr b="1"/>
                        <a:t>prediktivno, ne kauzalno</a:t>
                      </a:r>
                    </a:p>
                  </a:txBody>
                </a:tc>
              </a:tr>
              <a:tr h="0">
                <a:tc>
                  <a:txBody>
                    <a:bodyPr/>
                    <a:lstStyle/>
                    <a:p>
                      <a:pPr lvl="0" indent="0" marL="0">
                        <a:buNone/>
                      </a:pPr>
                      <a:r>
                        <a:rPr/>
                        <a:t>Euro mijenja režim</a:t>
                      </a:r>
                    </a:p>
                  </a:txBody>
                </a:tc>
                <a:tc>
                  <a:txBody>
                    <a:bodyPr/>
                    <a:lstStyle/>
                    <a:p>
                      <a:pPr lvl="0" indent="0" marL="0">
                        <a:buNone/>
                      </a:pPr>
                      <a:r>
                        <a:rPr/>
                        <a:t>Chowov test i interakcije</a:t>
                      </a:r>
                    </a:p>
                  </a:txBody>
                </a:tc>
                <a:tc>
                  <a:txBody>
                    <a:bodyPr/>
                    <a:lstStyle/>
                    <a:p>
                      <a:pPr lvl="0" indent="0" marL="0">
                        <a:buNone/>
                      </a:pPr>
                      <a:r>
                        <a:rPr b="1"/>
                        <a:t>strukturni lom</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Nalaz 1: viša inflacija, širi jaz</a:t>
            </a:r>
          </a:p>
        </p:txBody>
      </p:sp>
      <p:pic>
        <p:nvPicPr>
          <p:cNvPr descr="PRESENTATION_EKONOMSKI_SUSRETI_files/figure-pptx/result-bins-1.png" id="0" name="Picture 1"/>
          <p:cNvPicPr>
            <a:picLocks noGrp="1" noChangeAspect="1"/>
          </p:cNvPicPr>
          <p:nvPr/>
        </p:nvPicPr>
        <p:blipFill>
          <a:blip r:embed="rId3"/>
          <a:stretch>
            <a:fillRect/>
          </a:stretch>
        </p:blipFill>
        <p:spPr bwMode="auto">
          <a:xfrm>
            <a:off x="457200" y="1727200"/>
            <a:ext cx="4038600" cy="2336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+0.0021</a:t>
            </a:r>
            <a:br/>
            <a:r>
              <a:rPr/>
              <a:t>IAG jedinica na +1 postotni bod inflacije</a:t>
            </a:r>
          </a:p>
          <a:p>
            <a:pPr lvl="0" indent="0" marL="0">
              <a:buNone/>
            </a:pPr>
            <a:r>
              <a:rPr b="1"/>
              <a:t>≈ 12.9%</a:t>
            </a:r>
            <a:br/>
            <a:r>
              <a:rPr/>
              <a:t>opaženog raspona IAG-a pri skoku inflacije s 2% na 10%</a:t>
            </a:r>
          </a:p>
          <a:p>
            <a:pPr lvl="0" indent="0" marL="0">
              <a:buNone/>
            </a:pPr>
            <a:r>
              <a:rPr/>
              <a:t>Primarni tjedni model, uz kontrolu ukupnog medijskog volumena; p = 0.0002.</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Nalaz 2: problem je učestalost, ne samo doseg</a:t>
            </a:r>
          </a:p>
        </p:txBody>
      </p:sp>
      <p:pic>
        <p:nvPicPr>
          <p:cNvPr descr="PRESENTATION_EKONOMSKI_SUSRETI_files/figure-pptx/result-margins-1.png" id="0" name="Picture 1"/>
          <p:cNvPicPr>
            <a:picLocks noGrp="1" noChangeAspect="1"/>
          </p:cNvPicPr>
          <p:nvPr/>
        </p:nvPicPr>
        <p:blipFill>
          <a:blip r:embed="rId3"/>
          <a:stretch>
            <a:fillRect/>
          </a:stretch>
        </p:blipFill>
        <p:spPr bwMode="auto">
          <a:xfrm>
            <a:off x="457200" y="1600200"/>
            <a:ext cx="4038600" cy="2565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spcBef>
                <a:spcPts val="3000"/>
              </a:spcBef>
              <a:buNone/>
            </a:pPr>
            <a:r>
              <a:rPr b="1"/>
              <a:t>Na +1 postotni bod inflacije</a:t>
            </a:r>
          </a:p>
          <a:p>
            <a:pPr lvl="0" indent="0" marL="0">
              <a:buNone/>
            </a:pPr>
            <a:r>
              <a:rPr b="1"/>
              <a:t>-0.47 p.b.</a:t>
            </a:r>
            <a:br/>
            <a:r>
              <a:rPr/>
              <a:t>promjena udjela HNB članaka</a:t>
            </a:r>
            <a:br/>
            <a:r>
              <a:rPr/>
              <a:t>p = 0.012</a:t>
            </a:r>
          </a:p>
          <a:p>
            <a:pPr lvl="0" indent="0" marL="0">
              <a:buNone/>
            </a:pPr>
            <a:r>
              <a:rPr b="1"/>
              <a:t>Nema jasnog učinka</a:t>
            </a:r>
            <a:br/>
            <a:r>
              <a:rPr/>
              <a:t>na doseg po članku</a:t>
            </a:r>
            <a:br/>
            <a:r>
              <a:rPr/>
              <a:t>p = 0.346</a:t>
            </a:r>
          </a:p>
          <a:p>
            <a:pPr lvl="0" indent="0" marL="0">
              <a:buNone/>
            </a:pPr>
            <a:r>
              <a:rPr/>
              <a:t>Medijski filtar djeluje prvenstveno preko uredničke odluke koliko često uključiti HNB u priču o cijenama.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Nalaz 3: učestalost prethodi očekivanjima</a:t>
            </a:r>
          </a:p>
        </p:txBody>
      </p:sp>
      <p:pic>
        <p:nvPicPr>
          <p:cNvPr descr="PRESENTATION_EKONOMSKI_SUSRETI_files/figure-pptx/result-lp-1.png" id="0" name="Picture 1"/>
          <p:cNvPicPr>
            <a:picLocks noGrp="1" noChangeAspect="1"/>
          </p:cNvPicPr>
          <p:nvPr/>
        </p:nvPicPr>
        <p:blipFill>
          <a:blip r:embed="rId3"/>
          <a:stretch>
            <a:fillRect/>
          </a:stretch>
        </p:blipFill>
        <p:spPr bwMode="auto">
          <a:xfrm>
            <a:off x="457200" y="1752600"/>
            <a:ext cx="4038600" cy="22860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spcBef>
                <a:spcPts val="3000"/>
              </a:spcBef>
              <a:buNone/>
            </a:pPr>
            <a:r>
              <a:rPr b="1"/>
              <a:t>Dinamički obrazac</a:t>
            </a:r>
          </a:p>
          <a:p>
            <a:pPr lvl="0"/>
            <a:r>
              <a:rPr/>
              <a:t>značajnost od </a:t>
            </a:r>
            <a:r>
              <a:rPr b="1"/>
              <a:t>2. do 12. tjedna</a:t>
            </a:r>
            <a:r>
              <a:rPr/>
              <a:t>;</a:t>
            </a:r>
          </a:p>
          <a:p>
            <a:pPr lvl="0"/>
            <a:r>
              <a:rPr/>
              <a:t>rezultat opstaje nakon Bonferronijeve korekcije;</a:t>
            </a:r>
          </a:p>
          <a:p>
            <a:pPr lvl="0"/>
            <a:r>
              <a:rPr/>
              <a:t>robustan na linearnu i stepenastu interpolaciju očekivanja.</a:t>
            </a:r>
          </a:p>
          <a:p>
            <a:pPr lvl="0" indent="0" marL="0">
              <a:buNone/>
            </a:pPr>
            <a:r>
              <a:rPr/>
              <a:t>Manji udio članaka o HNB-u predviđa pesimističnija očekivanja.</a:t>
            </a:r>
          </a:p>
          <a:p>
            <a:pPr lvl="0" indent="0" marL="0">
              <a:buNone/>
            </a:pPr>
            <a:r>
              <a:rPr/>
              <a:t>Prediktivna veza — nije identificiran kauzalni učinak medijske izloženosti.</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Alternativno objašnjenje: možda je HNB jednostavno manje komunicirao?</a:t>
            </a:r>
          </a:p>
        </p:txBody>
      </p:sp>
      <p:pic>
        <p:nvPicPr>
          <p:cNvPr descr="PRESENTATION_EKONOMSKI_SUSRETI_files/figure-pptx/result-communication-1.png" id="0" name="Picture 1"/>
          <p:cNvPicPr>
            <a:picLocks noGrp="1" noChangeAspect="1"/>
          </p:cNvPicPr>
          <p:nvPr/>
        </p:nvPicPr>
        <p:blipFill>
          <a:blip r:embed="rId3"/>
          <a:stretch>
            <a:fillRect/>
          </a:stretch>
        </p:blipFill>
        <p:spPr bwMode="auto">
          <a:xfrm>
            <a:off x="457200" y="1765300"/>
            <a:ext cx="4038600" cy="2247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Podatci ne podupiru tu interpretaciju.</a:t>
            </a:r>
          </a:p>
          <a:p>
            <a:pPr lvl="0"/>
            <a:r>
              <a:rPr/>
              <a:t>vlastita komunikacija HNB-a raste s inflacijom;</a:t>
            </a:r>
          </a:p>
          <a:p>
            <a:pPr lvl="0"/>
            <a:r>
              <a:rPr/>
              <a:t>volumen ostaje stabilan nakon uvođenja eura;</a:t>
            </a:r>
          </a:p>
          <a:p>
            <a:pPr lvl="0"/>
            <a:r>
              <a:rPr/>
              <a:t>jaz nastaje između institucionalne ponude i medijskog prijenosa.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Uvođenje eura mijenja mehanizam</a:t>
            </a:r>
          </a:p>
        </p:txBody>
      </p:sp>
      <p:sp>
        <p:nvSpPr>
          <p:cNvPr id="3" name="Content Placeholder 2"/>
          <p:cNvSpPr>
            <a:spLocks noGrp="1"/>
          </p:cNvSpPr>
          <p:nvPr>
            <p:ph idx="1"/>
          </p:nvPr>
        </p:nvSpPr>
        <p:spPr/>
        <p:txBody>
          <a:bodyPr/>
          <a:lstStyle/>
          <a:p>
            <a:pPr lvl="0"/>
            <a:r>
              <a:rPr b="1"/>
              <a:t>Chowov test:</a:t>
            </a:r>
            <a:r>
              <a:rPr/>
              <a:t> F = 9,43; p &lt; 0,001.</a:t>
            </a:r>
          </a:p>
          <a:p>
            <a:pPr lvl="0"/>
            <a:r>
              <a:rPr b="1"/>
              <a:t>Inflacija:</a:t>
            </a:r>
            <a:r>
              <a:rPr/>
              <a:t> slabiji prediktor IAG-a nakon eura.</a:t>
            </a:r>
          </a:p>
          <a:p>
            <a:pPr lvl="0"/>
            <a:r>
              <a:rPr b="1"/>
              <a:t>Sentiment:</a:t>
            </a:r>
            <a:r>
              <a:rPr/>
              <a:t> koeficijent je oko 3,3 puta snažniji.</a:t>
            </a:r>
          </a:p>
          <a:p>
            <a:pPr lvl="0" indent="0" marL="0">
              <a:spcBef>
                <a:spcPts val="3000"/>
              </a:spcBef>
              <a:buNone/>
            </a:pPr>
            <a:r>
              <a:rPr b="1"/>
              <a:t>Institucionalno tumačenje</a:t>
            </a:r>
          </a:p>
          <a:p>
            <a:pPr lvl="0" indent="0" marL="0">
              <a:buNone/>
            </a:pPr>
            <a:r>
              <a:rPr/>
              <a:t>Nakon prijenosa kamatnog instrumenta na ECB, komparativna prednost HNB-a prelazi sa signaliziranja odluke na </a:t>
            </a:r>
            <a:r>
              <a:rPr b="1"/>
              <a:t>autoritativno tumačenje domaćih kretanja cijena</a:t>
            </a:r>
            <a: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Koliko je nalaz robustan?</a:t>
            </a:r>
          </a:p>
        </p:txBody>
      </p:sp>
      <p:sp>
        <p:nvSpPr>
          <p:cNvPr id="3" name="Content Placeholder 2"/>
          <p:cNvSpPr>
            <a:spLocks noGrp="1"/>
          </p:cNvSpPr>
          <p:nvPr>
            <p:ph idx="1"/>
          </p:nvPr>
        </p:nvSpPr>
        <p:spPr/>
        <p:txBody>
          <a:bodyPr/>
          <a:lstStyle/>
          <a:p>
            <a:pPr lvl="0"/>
            <a:r>
              <a:rPr b="1"/>
              <a:t>Instrumentalne varijable:</a:t>
            </a:r>
            <a:r>
              <a:rPr/>
              <a:t> eurozonska energija i hrana daju sličan učinak inflacije.</a:t>
            </a:r>
          </a:p>
          <a:p>
            <a:pPr lvl="0"/>
            <a:r>
              <a:rPr b="1"/>
              <a:t>Difference-in-differences:</a:t>
            </a:r>
            <a:r>
              <a:rPr/>
              <a:t> HNB–HANFA usporedba oko eura podupire institucionalnu specifičnost.</a:t>
            </a:r>
          </a:p>
          <a:p>
            <a:pPr lvl="0"/>
            <a:r>
              <a:rPr b="1"/>
              <a:t>Specifikacijske provjere:</a:t>
            </a:r>
            <a:r>
              <a:rPr/>
              <a:t> permutacije i specifikacijske krivulje podupiru tjedni rezultat.</a:t>
            </a:r>
          </a:p>
          <a:p>
            <a:pPr lvl="0"/>
            <a:r>
              <a:rPr b="1"/>
              <a:t>Vladina komunikacija:</a:t>
            </a:r>
            <a:r>
              <a:rPr/>
              <a:t> smanjuje koeficijent za približno trećinu, ali ga ne uklanja.</a:t>
            </a:r>
          </a:p>
          <a:p>
            <a:pPr lvl="0"/>
            <a:r>
              <a:rPr b="1"/>
              <a:t>Ponuda HNB komunikacije:</a:t>
            </a:r>
            <a:r>
              <a:rPr/>
              <a:t> ne objašnjava istiskivanje.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Od više priopćenja prema više neovisnih kontakata</a:t>
            </a:r>
          </a:p>
        </p:txBody>
      </p:sp>
      <p:sp>
        <p:nvSpPr>
          <p:cNvPr id="3" name="Content Placeholder 2"/>
          <p:cNvSpPr>
            <a:spLocks noGrp="1"/>
          </p:cNvSpPr>
          <p:nvPr>
            <p:ph idx="1" sz="half"/>
          </p:nvPr>
        </p:nvSpPr>
        <p:spPr/>
        <p:txBody>
          <a:bodyPr/>
          <a:lstStyle/>
          <a:p>
            <a:pPr lvl="0" indent="0" marL="0">
              <a:spcBef>
                <a:spcPts val="3000"/>
              </a:spcBef>
              <a:buNone/>
            </a:pPr>
            <a:r>
              <a:rPr b="1"/>
              <a:t>Ekstenzivna margina</a:t>
            </a:r>
          </a:p>
          <a:p>
            <a:pPr lvl="0"/>
            <a:r>
              <a:rPr/>
              <a:t>brža dostupnost stručnjaka za komentar;</a:t>
            </a:r>
          </a:p>
          <a:p>
            <a:pPr lvl="0"/>
            <a:r>
              <a:rPr/>
              <a:t>kratki, podatkovno jasni materijali za urednike;</a:t>
            </a:r>
          </a:p>
          <a:p>
            <a:pPr lvl="0"/>
            <a:r>
              <a:rPr/>
              <a:t>sustavna suradnja s regionalnim i specijaliziranim portalima;</a:t>
            </a:r>
          </a:p>
          <a:p>
            <a:pPr lvl="0"/>
            <a:r>
              <a:rPr/>
              <a:t>pravodobno objašnjenje cost-push šokova.</a:t>
            </a:r>
          </a:p>
        </p:txBody>
      </p:sp>
      <p:sp>
        <p:nvSpPr>
          <p:cNvPr id="4" name="Content Placeholder 3"/>
          <p:cNvSpPr>
            <a:spLocks noGrp="1"/>
          </p:cNvSpPr>
          <p:nvPr>
            <p:ph idx="2" sz="half"/>
          </p:nvPr>
        </p:nvSpPr>
        <p:spPr/>
        <p:txBody>
          <a:bodyPr/>
          <a:lstStyle/>
          <a:p>
            <a:pPr lvl="0" indent="0" marL="0">
              <a:spcBef>
                <a:spcPts val="3000"/>
              </a:spcBef>
              <a:buNone/>
            </a:pPr>
            <a:r>
              <a:rPr b="1"/>
              <a:t>Intenzivna margina</a:t>
            </a:r>
          </a:p>
          <a:p>
            <a:pPr lvl="0"/>
            <a:r>
              <a:rPr/>
              <a:t>ciljani odnosi s izdavačima velikog dosega;</a:t>
            </a:r>
          </a:p>
          <a:p>
            <a:pPr lvl="0"/>
            <a:r>
              <a:rPr/>
              <a:t>sadržaj prilagođen širokoj publici;</a:t>
            </a:r>
          </a:p>
          <a:p>
            <a:pPr lvl="0"/>
            <a:r>
              <a:rPr/>
              <a:t>koordinirano povezivanje HNB i ECB poruka;</a:t>
            </a:r>
          </a:p>
          <a:p>
            <a:pPr lvl="0"/>
            <a:r>
              <a:rPr/>
              <a:t>praćenje udjela glasa, ne samo broja vlastitih objava.</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Što još ne znamo</a:t>
            </a:r>
          </a:p>
        </p:txBody>
      </p:sp>
      <p:sp>
        <p:nvSpPr>
          <p:cNvPr id="3" name="Content Placeholder 2"/>
          <p:cNvSpPr>
            <a:spLocks noGrp="1"/>
          </p:cNvSpPr>
          <p:nvPr>
            <p:ph idx="1"/>
          </p:nvPr>
        </p:nvSpPr>
        <p:spPr/>
        <p:txBody>
          <a:bodyPr/>
          <a:lstStyle/>
          <a:p>
            <a:pPr lvl="0" indent="-342900" marL="342900">
              <a:buAutoNum type="arabicPeriod"/>
            </a:pPr>
            <a:r>
              <a:rPr/>
              <a:t>Očekivanja su mjesečna i interpolirana na tjednu razinu.</a:t>
            </a:r>
          </a:p>
          <a:p>
            <a:pPr lvl="0" indent="-342900" marL="342900">
              <a:buAutoNum type="arabicPeriod"/>
            </a:pPr>
            <a:r>
              <a:rPr/>
              <a:t>Kanal IAG → očekivanja je prediktivan, ne eksperimentalno identificiran.</a:t>
            </a:r>
          </a:p>
          <a:p>
            <a:pPr lvl="0" indent="-342900" marL="342900">
              <a:buAutoNum type="arabicPeriod"/>
            </a:pPr>
            <a:r>
              <a:rPr/>
              <a:t>Kratak vremenski niz ograničava mjesečne testove i analizu režima.</a:t>
            </a:r>
          </a:p>
          <a:p>
            <a:pPr lvl="0" indent="-342900" marL="342900">
              <a:buAutoNum type="arabicPeriod"/>
            </a:pPr>
            <a:r>
              <a:rPr/>
              <a:t>Jedna zemlja i jedan inflacijski šok ograničavaju vanjsku valjanost.</a:t>
            </a:r>
          </a:p>
          <a:p>
            <a:pPr lvl="0" indent="0" marL="0">
              <a:buNone/>
            </a:pPr>
            <a:r>
              <a:rPr b="1"/>
              <a:t>Sljedeći test:</a:t>
            </a:r>
            <a:r>
              <a:rPr/>
              <a:t> panel malih članica europodručja i eksperimentalna varijacija medijske izloženosti.</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Zaključak u jednoj rečenici</a:t>
            </a:r>
          </a:p>
        </p:txBody>
      </p:sp>
      <p:sp>
        <p:nvSpPr>
          <p:cNvPr id="3" name="Content Placeholder 2"/>
          <p:cNvSpPr>
            <a:spLocks noGrp="1"/>
          </p:cNvSpPr>
          <p:nvPr>
            <p:ph idx="1"/>
          </p:nvPr>
        </p:nvSpPr>
        <p:spPr/>
        <p:txBody>
          <a:bodyPr/>
          <a:lstStyle/>
          <a:p>
            <a:pPr lvl="0" indent="0" marL="0">
              <a:buNone/>
            </a:pPr>
            <a:r>
              <a:rPr/>
              <a:t>Kada inflacija raste, problem središnje banke nije samo što reći — nego hoće li njezin glas dovoljno često uopće doći do javnosti.</a:t>
            </a:r>
          </a:p>
          <a:p>
            <a:pPr lvl="0" indent="0" marL="0">
              <a:buNone/>
            </a:pPr>
          </a:p>
          <a:p>
            <a:pPr lvl="0"/>
            <a:r>
              <a:rPr/>
              <a:t>Inflacija širi institucionalni jaz u pažnji.</a:t>
            </a:r>
          </a:p>
          <a:p>
            <a:pPr lvl="0"/>
            <a:r>
              <a:rPr/>
              <a:t>Istiskivanje djeluje prvenstveno kroz udio i učestalost objava.</a:t>
            </a:r>
          </a:p>
          <a:p>
            <a:pPr lvl="0"/>
            <a:r>
              <a:rPr/>
              <a:t>Ta margina predviđa očekivanja kućanstava.</a:t>
            </a:r>
          </a:p>
          <a:p>
            <a:pPr lvl="0"/>
            <a:r>
              <a:rPr/>
              <a:t>Nakon eura HNB-u ostaje ključna domaća uloga: tumačenje inflacije.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Hvala</a:t>
            </a:r>
          </a:p>
        </p:txBody>
      </p:sp>
      <p:sp>
        <p:nvSpPr>
          <p:cNvPr id="3" name="Content Placeholder 2"/>
          <p:cNvSpPr>
            <a:spLocks noGrp="1"/>
          </p:cNvSpPr>
          <p:nvPr>
            <p:ph idx="1"/>
          </p:nvPr>
        </p:nvSpPr>
        <p:spPr/>
        <p:txBody>
          <a:bodyPr/>
          <a:lstStyle/>
          <a:p>
            <a:pPr lvl="0" indent="0" marL="0">
              <a:spcBef>
                <a:spcPts val="3000"/>
              </a:spcBef>
              <a:buNone/>
            </a:pPr>
            <a:r>
              <a:rPr b="1"/>
              <a:t>Pitanja i rasprava</a:t>
            </a:r>
          </a:p>
          <a:p>
            <a:pPr lvl="0" indent="0" marL="0">
              <a:buNone/>
            </a:pPr>
            <a:r>
              <a:rPr b="1"/>
              <a:t>Rad:</a:t>
            </a:r>
            <a:r>
              <a:rPr/>
              <a:t> </a:t>
            </a:r>
            <a:r>
              <a:rPr i="1"/>
              <a:t>Pasivno zamijenjena: cijena inflacije koju ne mjeri indeks potrošačkih cijena</a:t>
            </a:r>
          </a:p>
          <a:p>
            <a:pPr lvl="0" indent="0" marL="0">
              <a:buNone/>
            </a:pPr>
            <a:r>
              <a:rPr/>
              <a:t>Petra Palić · Luka Sikić</a:t>
            </a:r>
            <a:br/>
            <a:r>
              <a:rPr/>
              <a:t>Hrvatsko katoličko sveučilište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Kada inflacija istisne glas središnje banke</dc:title>
  <dc:creator>Petra Palić; Luka Sikić</dc:creator>
  <cp:keywords/>
  <dcterms:created xsi:type="dcterms:W3CDTF">2026-08-13T09:08:14Z</dcterms:created>
  <dcterms:modified xsi:type="dcterms:W3CDTF">2026-08-13T09:08:14Z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Invalid Date</vt:lpwstr>
  </property>
  <property fmtid="{D5CDD505-2E9C-101B-9397-08002B2CF9AE}" pid="8" name="engines">
    <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subtitle">
    <vt:lpwstr>Medijska pažnja i inflacijska očekivanja u Hrvatskoj</vt:lpwstr>
  </property>
  <property fmtid="{D5CDD505-2E9C-101B-9397-08002B2CF9AE}" pid="15" name="toc-title">
    <vt:lpwstr>Table of contents</vt:lpwstr>
  </property>
</Properties>
</file>